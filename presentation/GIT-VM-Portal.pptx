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d’ouverture. Présenter le pitch : une plateforme self-service qui transforme une demande en VM AWS prête, sécurisée et gérée de bout en bout, hébergée sur Cloudflare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: on part de l’architecture, on descend vers les fonctionnalités (catalogue, rôles, snapshots), puis la sécurité réseau et le cycle de vie autonome, et on finit par une démo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problème (gestion manuelle, coûts, sécurité) puis la promesse de la plateforme. Insister sur “self-service + automatisation + sécurité par défaut”.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parcours utilisateur de bout en bout en 6 étapes. C’est le fil rouge : chaque étape sera détaillée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topologie : la SPA parle au Worker ; le Worker porte l’auth, l’API et le cron ; il pilote AWS et lit/écrit D1. Insister : D1 = état désiré, AWS = état réel, le cron réconcilie.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le “serverless” : pas d’infra à patcher, scaling automatique, et un pipeline de déploiement 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C’est LE concept d’architecture (ADR 0004). Tout ce qui touche au cycle de vie passe par cette boucle. Lister les 6 étapes et insister sur l’idempotence.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frise : chaque VM suit ce cycle. Les statuts sont réels (pending→…→terminated) ; “expirée” est dérivé. Souligner les garde-fous de coût.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est la source de vérité (presets.ts). Montrer la combinatoire perf×stockage×OS, la création multi-VM avec groupes, le nommage, et les bundles d’outils par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rôle formateur est la nouveauté clé : il permet de provisionner des TP entiers. Expliquer la répartition round-robin et la validation admin obligatoire.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snapshots couvrent sauvegarde + restauration. Mentionner le snapshot-avant-suppression et la cascade de nettoyage. Préciser le choix EBS-only (ADR 0009).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Volet sécurité “accès” : chaque VM a sa propre clé/mot de passe, chiffré au repos. Les secrets vivent dans Cloudflare, pas dans le repo. SSO + audit complètent.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sécurité réseau — le point fort. Deux couches : in-VM (best-effort) et réseau (Security Group, non contournable). C’est la couche réseau qui garantit le blocage même face à un utilisateur admin de sa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est automatique : inactivité, planning, échéance, garde-fous. Le message : l’infra s’auto-gère, l’admin n’a presque rien à faire au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admin : une seule console pour valider et opérer les VM, plus la gestion des rôles, le monitoring Grafana, l’audit et l’export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déploiement est trivial et sûr : une PR mergée déclenche build + migrations + deploy. Insister sur l’ordre migrate→deploy géré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Quelques chiffres marquants pour ancrer le projet : catalogue, rôles, capacité de la demande groupée, fréquence du cron, seuils d’automatisation et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transition vers la démo. Dérouler le parcours dans l’ordre sur la plateforme. Prévoir un plan B (captures) si le réseau ou une VM tarde. Astuce : avoir une VM déjà active pour la partie connexion/snapshot.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rappeler les 3 mots-clés (self-service, automatisé, sécurisé) et inviter aux questions / à la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235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383280"/>
            <a:ext cx="4206240" cy="4206240"/>
          </a:xfrm>
          <a:prstGeom prst="ellipse">
            <a:avLst/>
          </a:prstGeom>
          <a:solidFill>
            <a:srgbClr val="0FA3A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SELF-SERVICE DE VM · CLOUDFLARE × AWS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demande en libre-service à la VM AWS sécurisée : SSO, validation, provisioning automatique, snapshots, durcissement réseau et cycle de vie autonome.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 </a:t>
            </a:r>
            <a:pPr indent="0" marL="0">
              <a:buNone/>
            </a:pPr>
            <a:r>
              <a:rPr lang="en-US" sz="13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git-vm-portal.thomas-prudhomme.workers.dev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couvre cette présentation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80136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19476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77393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15798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flux, réconciliateur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19856" y="15544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48456" y="180136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4767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79976" y="177393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VM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379976" y="215798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multi-VM, groupes, nommage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99632" y="15544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28232" y="180136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9476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59752" y="177393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159752" y="215798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· formateur · admin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979408" y="15544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08008" y="180136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2" y="19476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39528" y="177393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EBS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939528" y="215798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restauration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312724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68680" y="3374136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5204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00200" y="334670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1600200" y="373075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&amp; filtrage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3419856" y="312724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3648456" y="3374136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52044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379976" y="334670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auto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4379976" y="373075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Inactivité, planification, échéance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6199632" y="312724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428232" y="337413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352044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159752" y="334670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monitoring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7159752" y="373075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unifiée, Grafana</a:t>
            </a:r>
            <a:endParaRPr lang="en-US" sz="1150" dirty="0"/>
          </a:p>
        </p:txBody>
      </p:sp>
      <p:sp>
        <p:nvSpPr>
          <p:cNvPr id="43" name="Shape 33"/>
          <p:cNvSpPr/>
          <p:nvPr/>
        </p:nvSpPr>
        <p:spPr>
          <a:xfrm>
            <a:off x="8979408" y="312724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9208008" y="3374136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4312" y="3520440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939528" y="334670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500" dirty="0"/>
          </a:p>
        </p:txBody>
      </p:sp>
      <p:sp>
        <p:nvSpPr>
          <p:cNvPr id="47" name="Text 36"/>
          <p:cNvSpPr/>
          <p:nvPr/>
        </p:nvSpPr>
        <p:spPr>
          <a:xfrm>
            <a:off x="9939528" y="3730752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sur la plateforme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: des VM à la demande, sans friction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2402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VM par e-mail / tickets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manuelle, lente, source d’erreurs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des coûts ni des échéances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oubliées qui tournent (et coûtent)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 au cas par cas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55080" y="1600200"/>
            <a:ext cx="5193792" cy="4297680"/>
          </a:xfrm>
          <a:prstGeom prst="roundRect">
            <a:avLst>
              <a:gd name="adj" fmla="val 19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GIT VM PORTAL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22402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Libre-service : je demande, je nomme, je choisis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AWS automatique après validation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obligatoires + suppression à l’échéance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auto si inactive, garde-fous de coût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réseau systématique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parcours, de la connexion à la VM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103120"/>
            <a:ext cx="640080" cy="64008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4592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Microsoft Entra ID (OIDC)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210312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2"/>
          <p:cNvSpPr/>
          <p:nvPr/>
        </p:nvSpPr>
        <p:spPr>
          <a:xfrm>
            <a:off x="45079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25780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VM nommées, catalogue + dates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6384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19872" y="21031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7"/>
          <p:cNvSpPr/>
          <p:nvPr/>
        </p:nvSpPr>
        <p:spPr>
          <a:xfrm>
            <a:off x="811987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968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3816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 approuve (VM ou groupe)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6112" y="4160520"/>
            <a:ext cx="640080" cy="64008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2"/>
          <p:cNvSpPr/>
          <p:nvPr/>
        </p:nvSpPr>
        <p:spPr>
          <a:xfrm>
            <a:off x="89611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64592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440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clé chiffrée + durcissement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5196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416052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0" name="Text 27"/>
          <p:cNvSpPr/>
          <p:nvPr/>
        </p:nvSpPr>
        <p:spPr>
          <a:xfrm>
            <a:off x="450799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525780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2628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Accès, snapshots, planification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6384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19872" y="4160520"/>
            <a:ext cx="640080" cy="640080"/>
          </a:xfrm>
          <a:prstGeom prst="ellipse">
            <a:avLst/>
          </a:prstGeom>
          <a:solidFill>
            <a:srgbClr val="FF6B5C"/>
          </a:solidFill>
          <a:ln/>
        </p:spPr>
      </p:sp>
      <p:sp>
        <p:nvSpPr>
          <p:cNvPr id="35" name="Text 32"/>
          <p:cNvSpPr/>
          <p:nvPr/>
        </p:nvSpPr>
        <p:spPr>
          <a:xfrm>
            <a:off x="811987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886968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13816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inactivité · suppression échéance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Worker au centre, la DB comme état désiré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017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30358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 19 (Vite, Tailwind), assets statiques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06240" y="24688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07408" y="2871216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0175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20640" y="30358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· OIDC · API JSON · cron scheduled()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0" y="86868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30768" y="106527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2115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1069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(SQLite)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désiré : demandes, VM, snapshots, audit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229600" y="205740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30768" y="225399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4003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/ EBS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144000" y="2624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réel (aws4fetch)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0" y="324612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30768" y="344271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5890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0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144000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arrêt sur inactivité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229600" y="443484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430768" y="463143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77774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144000" y="4636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/ Grafana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9144000" y="5001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monitoring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2743200" y="3154680"/>
            <a:ext cx="146304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V="1">
            <a:off x="7589520" y="1371600"/>
            <a:ext cx="640080" cy="160020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 flipV="1">
            <a:off x="7589520" y="2542032"/>
            <a:ext cx="640080" cy="566928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7589520" y="3246120"/>
            <a:ext cx="640080" cy="48463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589520" y="3383280"/>
            <a:ext cx="640080" cy="153619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640080" y="4160520"/>
            <a:ext cx="6675120" cy="1737360"/>
          </a:xfrm>
          <a:prstGeom prst="roundRect">
            <a:avLst>
              <a:gd name="adj" fmla="val 473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896112" y="4434840"/>
            <a:ext cx="640080" cy="640080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" y="4581144"/>
            <a:ext cx="347472" cy="34747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691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réconciliateur (cron */2 min)</a:t>
            </a:r>
            <a:endParaRPr lang="en-US" sz="1500" dirty="0"/>
          </a:p>
        </p:txBody>
      </p:sp>
      <p:sp>
        <p:nvSpPr>
          <p:cNvPr id="47" name="Text 37"/>
          <p:cNvSpPr/>
          <p:nvPr/>
        </p:nvSpPr>
        <p:spPr>
          <a:xfrm>
            <a:off x="169164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qui aligne en continu le réel AWS sur la DB : provisioning→active, drift, retry, échéance, inactivité, snapshots.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briques modernes, sans serveur à gérer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89280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391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865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494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TypeScript · Tailwind v4 · TanStack Query · i18n FR/EN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61688" y="16459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90288" y="189280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391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1808" y="1865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321808" y="22494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(Hono) — API JSON + cron scheduled()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83296" y="1645920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11896" y="189280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0391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43416" y="1865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43416" y="22494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D1 (SQLite), migrations additives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3127248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3374136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5204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33467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00200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(OIDC), in-Worker, sans librairie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61688" y="3127248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90288" y="337413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5204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21808" y="33467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5321808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EBS + CloudWatch via aws4fetch (eu-central-2)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8083296" y="3127248"/>
            <a:ext cx="35661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311896" y="3374136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52044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43416" y="33467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9043416" y="37307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Builds : build + migrate + deploy sur main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serveur à administrer · déploiement par simple merge · coût marginal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PATTERN CENTRAL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réconciliateur : une boucle, toute la logique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DB décrit l’état souhaité. Une cron */2 min rapproche le réel AWS de cet état — idempotent, sans mécanisme parallèle. »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700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provisioning→active, détection de drift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67004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78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applySchedules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1772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démarrage/arrêt planifiés par VM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7532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67004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retryFailed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2104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re-tente les provisioning échoués (max 3)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5312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enforceExpiry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1440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auto puis suppression à l’échéance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4340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45312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5780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enforceIdleStop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61772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si CPU &lt; 10 % sur 3 h (CloudWatch)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4672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7532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453128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6112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syncSnapshots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2104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les snapshots EBS en cours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VM, de sa naissance à sa suppression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0362895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834640"/>
            <a:ext cx="640080" cy="640080"/>
          </a:xfrm>
          <a:prstGeom prst="ellipse">
            <a:avLst/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Demandée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666939" y="2834640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66939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72579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72579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39518" y="2834640"/>
            <a:ext cx="640080" cy="640080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3951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145158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45158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clé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12097" y="2834640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12097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217737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737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connectable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884676" y="2834640"/>
            <a:ext cx="640080" cy="640080"/>
          </a:xfrm>
          <a:prstGeom prst="ellipse">
            <a:avLst/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8467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29031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90316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957255" y="2834640"/>
            <a:ext cx="640080" cy="640080"/>
          </a:xfrm>
          <a:prstGeom prst="ellipse">
            <a:avLst/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57255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0362895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Expirée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362895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supprimée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40080" y="45720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6012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de fin obligatoires · extinction nocturne · arrêt sur inactivité · suppression automatique à l’échéance (snapshot auto possible avant) · budget AWS plafonné à 50 $ avec alertes e-mail.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× Stockage × OS, en quelques clics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systèmes au catalogue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286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· Debian 12 · Amazon Linux 2023 · Rocky 9 · AlmaLinux 9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32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· Windows poste de travail (RDP)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92240" y="1645920"/>
            <a:ext cx="5074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720840" y="189280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03911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1865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Multi-VM &amp; groupes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452360" y="2249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4 VM d’un coup, chacune configurée. &gt;1 VM ⇒ groupe (piloté/validé ensemble).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92240" y="274320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720840" y="299008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313639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52360" y="2962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obligatoire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452360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VM est nommée → tag AWS « nom.préfixe-email » (ex. python.thomas.prudhomme).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" y="3977640"/>
            <a:ext cx="10972800" cy="1920240"/>
          </a:xfrm>
          <a:prstGeom prst="roundRect">
            <a:avLst>
              <a:gd name="adj" fmla="val 4286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96012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cours préinstallés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60120" y="45262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bundle optionnel (Cloud, Web, Data, Cybersécurité…) installe les logiciels au premier démarrage via cloud-init (Linux) / EC2Launch (Windows) ; la VM signale « outils prêts » quand c’est terminé.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niveaux, dont un rôle formateur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9514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et gère ses propres VM (accès, snapshots, planification).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61688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90288" y="193852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1808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321808" y="229514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+ page « Demande groupée » : crée un lot et l’attribue à des utilisateurs.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83296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11896" y="1938528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08483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43416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43416" y="229514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tout, pilote la console VM, gère les rôles. Accès formateur inclus.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384048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2611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groupée (formateur)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37360" y="452628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lot de 1 à 30 VM, attribué en round-robin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ex. 10 VM / 5 utilisateurs = 2 chacun. Chaque VM est créée au nom de l’utilisateur attribué et reste soumise à la validation admin.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EBS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Sauvegarder, restaurer, nettoyer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911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/ lister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951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EBS du disque racine, suivi d’état par le réconciliateur.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193852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191109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avant suppression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315200" y="229514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« snapshot automatique » avant expiration ou suppression.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2461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49300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6393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 à la création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00200" y="38496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une VM depuis un snapshot (AMI enregistrée, même disque/OS).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324612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3493008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63931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46557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315200" y="384962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Effacer un snapshot ; suppression en cascade quand la VM quitte la liste.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48920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960120" y="5074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le snapshot EBS natif (fiable, rapide). L’export local VMware/VirtualBox a été retiré — non fiable hors AWS (cf. ADR 0009).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ACCÈS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accès chiffrés, propres à chaque VM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911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SSH unique (Linux)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9514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 ed25519 générée par VM, clé privée chiffrée AES-GCM, remise au seul propriétaire.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51937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193852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191109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RDP (Windows)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315200" y="2295144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admin généré via UserData, chiffré, port 3389.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3375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58444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73075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3557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côté Cloudflare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00200" y="394106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SESSION_SECRET, secrets Entra/AWS/EmailJS via Wrangler — jamais commités.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3337560"/>
            <a:ext cx="51937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3584448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73075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55701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au repos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315200" y="3941064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dérivé de SESSION_SECRET pour clés SSH et mots de passe stockés.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SSO · aucun mot de passe utilisateur stocké · journal d’audit sur les actions sensibles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RÉSEAU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« comme une multinationale »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root peut défaire ce qui est dans la VM → la vraie barrière est au réseau.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423160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5694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VM (Linux + Windows)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0120" y="315468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forcé → Cloudflare for Families (bloque adulte + malware)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des ports torrent / P2P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verrouillé (anti-renommage)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214884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6946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réseau (non contournable)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31546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du Security Group en liste blanche (default-deny)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53 autorisé uniquement vers Cloudflare → filtrage imposé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Torrents / P2P / sites X bloqués, même pour un root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 tourne tout seul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911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sur inactivité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951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CloudWatch &lt; 10 % sur 3 h → arrêt + notification. Relançable.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51937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193852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191109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par VM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315200" y="2295144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/ extinction programmés (jours + horaires, heure de Genève).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246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49300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6393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à l’échéance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00200" y="38496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date de fin : snapshot auto possible, puis terminate + nettoyage.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3246120"/>
            <a:ext cx="51937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3493008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63931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46557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de coût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315200" y="3849624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nocturne + budget AWS 50 $/mois avec alertes e-mail.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0080" y="48920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960120" y="5074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buNone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VM oubliée, pas de coût qui dérape — l’infrastructure se gère elle-même via le réconciliateur.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MONITORING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piloter depuis une console unifiée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848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911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VM unifiée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00200" y="22951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+ machines fusionnées : validation en cartes (groupe / VM seule), actions cycle de vie inline.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51937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193852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191109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315200" y="2295144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Promouvoir membre / formateur / admin en un clic.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4747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72160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8679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Grafana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00200" y="40782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(coûts, VM, logs) + endpoints /api/monitoring.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3474720"/>
            <a:ext cx="51937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3721608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86791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69417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export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315200" y="4078224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d’audit des actions sensibles + export CSV des demandes.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· filtres · pagination · thème clair-sombre · FR / EN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= merger sur main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27632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7"/>
          <p:cNvSpPr/>
          <p:nvPr/>
        </p:nvSpPr>
        <p:spPr>
          <a:xfrm>
            <a:off x="162763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vérifs (typecheck, build)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19856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07408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2"/>
          <p:cNvSpPr/>
          <p:nvPr/>
        </p:nvSpPr>
        <p:spPr>
          <a:xfrm>
            <a:off x="44074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557016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sur main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602736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Cloudflare Workers Builds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9632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87184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0" name="Text 17"/>
          <p:cNvSpPr/>
          <p:nvPr/>
        </p:nvSpPr>
        <p:spPr>
          <a:xfrm>
            <a:off x="718718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3679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+ Deploy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382512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D1 remote appliquées, puis deploy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979408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966960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116568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162288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 /healthz et /api/presets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44805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« wrangler deploy » manuel.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applique les migrations avant le déploiement. Les branches non-prod ne déploient rien.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d’un coup d’œil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32688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au catalogue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1688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36008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4654296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(dont formateur)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83296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57616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8375904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par demande groupée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*/2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932688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: cron de réconciliation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361688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36008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4654296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arrêt sur inactivité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083296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57616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50 $</a:t>
            </a:r>
            <a:endParaRPr lang="en-US" sz="4600" dirty="0"/>
          </a:p>
        </p:txBody>
      </p:sp>
      <p:sp>
        <p:nvSpPr>
          <p:cNvPr id="25" name="Text 22"/>
          <p:cNvSpPr/>
          <p:nvPr/>
        </p:nvSpPr>
        <p:spPr>
          <a:xfrm>
            <a:off x="8375904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budget AWS + alertes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2355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86384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37360" y="868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 — parcours sur la plateforme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176272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066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SSO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0876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en Microsoft Entra ID.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0528" y="2176272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78040" y="2066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VM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17804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Nommer, choisir OS / perf / dates, justifier.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127248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1248" y="338328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08760" y="3273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(admin)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50876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la demande dans la console VM.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09360" y="3127248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10528" y="338328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1"/>
          <p:cNvSpPr/>
          <p:nvPr/>
        </p:nvSpPr>
        <p:spPr>
          <a:xfrm>
            <a:off x="651052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78040" y="3273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17804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active → clé SSH (Linux) ou RDP (Windows).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4334256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41248" y="45902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9" name="Text 26"/>
          <p:cNvSpPr/>
          <p:nvPr/>
        </p:nvSpPr>
        <p:spPr>
          <a:xfrm>
            <a:off x="841248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508760" y="4480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50876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Snapshots → créer une sauvegarde EBS.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09360" y="4334256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510528" y="45902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4" name="Text 31"/>
          <p:cNvSpPr/>
          <p:nvPr/>
        </p:nvSpPr>
        <p:spPr>
          <a:xfrm>
            <a:off x="6510528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178040" y="4480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groupée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17804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 : créer un lot, répartir sur des users.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0080" y="5541264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1248" y="5797296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9" name="Text 36"/>
          <p:cNvSpPr/>
          <p:nvPr/>
        </p:nvSpPr>
        <p:spPr>
          <a:xfrm>
            <a:off x="841248" y="5797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50876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1508760" y="6071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DNS filtré + blocage (durcissement).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309360" y="5541264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510528" y="5797296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4" name="Text 41"/>
          <p:cNvSpPr/>
          <p:nvPr/>
        </p:nvSpPr>
        <p:spPr>
          <a:xfrm>
            <a:off x="6510528" y="5797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17804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7178040" y="6071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/ arrêt inactivité / échéance.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011680"/>
            <a:ext cx="5943600" cy="5943600"/>
          </a:xfrm>
          <a:prstGeom prst="ellipse">
            <a:avLst/>
          </a:prstGeom>
          <a:solidFill>
            <a:srgbClr val="12355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0FA3A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 — self-service, automatisé, sécurisé, sur Cloudflare × AWS.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</a:t>
            </a:r>
            <a:pPr indent="0" marL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git-vm-portal.thomas-prudhomme.workers.dev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: </a:t>
            </a:r>
            <a:pPr indent="0" marL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(référence canonique) · ADR 0001 → 0009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VM Portal — Présentation</dc:title>
  <dc:subject>PptxGenJS Presentation</dc:subject>
  <dc:creator>GIT VM Portal</dc:creator>
  <cp:lastModifiedBy>GIT VM Portal</cp:lastModifiedBy>
  <cp:revision>1</cp:revision>
  <dcterms:created xsi:type="dcterms:W3CDTF">2026-06-23T08:23:45Z</dcterms:created>
  <dcterms:modified xsi:type="dcterms:W3CDTF">2026-06-23T08:23:45Z</dcterms:modified>
</cp:coreProperties>
</file>